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4150-AB73-8AE1-D499-65122A9E6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E1233-69EC-A61F-821D-EAC095D3F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0B850-AAEC-4852-E491-7EC55AFB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E6C-6FDE-8E24-E4A0-316D7368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2D77A-C589-CD3E-BD31-DEE3EB53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2178-08F4-0706-50AB-A3852593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A7DA-843A-7ADF-51AF-513CAB00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C5A6A-EE31-3B6E-8D75-4A79BEAE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A53D-BDEA-9466-A3CE-95D9AEAA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BDF5F-8115-8EDD-B6BB-60E0162D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8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1A71-E8AD-7D67-6EC9-4D937B1F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AC569-6A52-C093-71C4-D3F6ABD76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DF5E7-C5D3-B1BB-6F18-3281260E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A5618-CECB-C6C7-9D35-6378F19B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DE08B-AE0C-13A6-8CFA-8B428F4B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570A-DA77-B364-A27D-2AADD992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FF12-8775-272A-7E2D-F2B98B9DD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F3F30-8683-7D91-D57B-916843C2E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3E81-F1E2-9D22-987C-A0F4252A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54C9E-5EAD-1E51-BE17-F1E78F6F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F1AA6-3FAA-8BAA-CF10-3B5B95E6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9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DB29-994E-CC35-3D5D-00D9F94B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AE0FC-B34D-4527-7341-1DA1DBAB4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08A31-20DC-FB58-BDFA-47D3B9C84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AB505-D72B-773D-8EA8-FC9ADC30E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FC96A-0CD1-C692-DCED-EBDA93A9F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60513-671D-3E0B-8274-EA73AEF6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E9E2A-7F10-CC6D-21B6-3D4448E7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51CB9-EF31-AD2D-0997-563683B2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2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D3F1-3514-8EF0-D9B7-FEEED192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020D9-7C59-C8DE-66CC-B77D0373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EE8D0-D85A-679C-1B98-0AD0DE26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F135-7FDB-5B06-499D-9E6F5331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8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A279D-AC50-F858-D154-7DBE49D3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03EDDD-9C42-8C48-2CCB-862CBEA0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44D5A-990F-ED09-82D2-3B74D1B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5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6AA6-57A5-B869-21A9-03713054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9791-8794-6BD9-E614-3B7D37501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EE84B-74FE-386D-1B40-102A68D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FF1DF-C110-0A4F-0260-E9F24BA2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6D4E8-998D-B592-28BF-C07E5E8C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EF73E-0BF8-87EB-0369-65EC80B3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8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0DC6-4711-BABA-E849-3395F0C0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A5B06-F905-E64D-E575-1C5C782FB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172A-34AF-685A-B0F9-BEEE5EC23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2BAD5-97D2-3964-4EA6-A51C3B08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7401C-8E24-F195-51B2-8B436C65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B0A41-C677-81AC-760B-504F2AA0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7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B850-FD4C-8543-1E96-47DF5352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7616A-9E38-9B1C-95DE-0CF89DD9B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7B837-43F3-7110-5DB5-5407920C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BD7C7-9B68-C7FD-9F76-AFD47F7B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D7C5-4A77-FBC6-1861-903A8D82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9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5485F-8FE6-6DF0-8D81-C64E3D188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D71A7-CDF8-9525-FD6D-20C48EDCD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8BEF4-2B39-5603-0DBD-8C45B0087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C052E-BE09-B756-1FE3-433A9C39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6A699-1CA8-61F7-6929-7C70825E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1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1D29F-4C12-66FF-7BEA-EA63B0FE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9E7B3-6DEB-FC49-AAC7-B91E8F8BA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FAE6-B32B-1A49-CD04-98D5E18EE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88549-E09B-4447-BED3-9E9138471EF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62B26-9328-FA7E-89E1-6BE47726E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1FA52-57D5-3025-783D-FA62587C5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0DD93-7775-459E-B8FD-01C046C0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5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mg.freepik.com/premium-photo/5g-communication-technology-wireless-internet-network-global-business_31965-14383.jpg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A3FB10-EBA3-7AB0-D435-E38CC8B161E0}"/>
              </a:ext>
            </a:extLst>
          </p:cNvPr>
          <p:cNvSpPr txBox="1"/>
          <p:nvPr/>
        </p:nvSpPr>
        <p:spPr>
          <a:xfrm>
            <a:off x="530942" y="2035276"/>
            <a:ext cx="114545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Presentation Topic: </a:t>
            </a:r>
            <a:r>
              <a:rPr lang="en-US" sz="4000" u="sng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History of Internet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Course </a:t>
            </a:r>
            <a:r>
              <a:rPr lang="en-US" sz="2000" dirty="0"/>
              <a:t>  </a:t>
            </a:r>
            <a:r>
              <a:rPr lang="en-US" sz="2000" dirty="0">
                <a:latin typeface="Arial Black" panose="020B0A04020102020204" pitchFamily="34" charset="0"/>
              </a:rPr>
              <a:t>Title: English Language and Literature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Course Code: ICT-1211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AAD7A-CD50-5827-AEE4-57062B254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839" y="293905"/>
            <a:ext cx="1622321" cy="15556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583812-B884-CFEA-A65F-EFAC14F4AF4A}"/>
              </a:ext>
            </a:extLst>
          </p:cNvPr>
          <p:cNvSpPr/>
          <p:nvPr/>
        </p:nvSpPr>
        <p:spPr>
          <a:xfrm>
            <a:off x="619430" y="3647768"/>
            <a:ext cx="5476569" cy="27038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 Black" panose="020B0A04020102020204" pitchFamily="34" charset="0"/>
              </a:rPr>
              <a:t>Presented By:</a:t>
            </a:r>
          </a:p>
          <a:p>
            <a:r>
              <a:rPr lang="en-US" dirty="0">
                <a:latin typeface="Arial Black" panose="020B0A04020102020204" pitchFamily="34" charset="0"/>
              </a:rPr>
              <a:t>Haseba Muntaha</a:t>
            </a:r>
          </a:p>
          <a:p>
            <a:r>
              <a:rPr lang="en-US" dirty="0">
                <a:latin typeface="Arial Black" panose="020B0A04020102020204" pitchFamily="34" charset="0"/>
              </a:rPr>
              <a:t>ID:IT-25013</a:t>
            </a:r>
          </a:p>
          <a:p>
            <a:r>
              <a:rPr lang="en-US" dirty="0">
                <a:latin typeface="Arial Black" panose="020B0A04020102020204" pitchFamily="34" charset="0"/>
              </a:rPr>
              <a:t>Department of Information and Communication Technology,</a:t>
            </a:r>
          </a:p>
          <a:p>
            <a:r>
              <a:rPr lang="en-US" dirty="0">
                <a:latin typeface="Arial Black" panose="020B0A04020102020204" pitchFamily="34" charset="0"/>
              </a:rPr>
              <a:t>Mawlana </a:t>
            </a:r>
            <a:r>
              <a:rPr lang="en-US" dirty="0" err="1">
                <a:latin typeface="Arial Black" panose="020B0A04020102020204" pitchFamily="34" charset="0"/>
              </a:rPr>
              <a:t>Bhashani</a:t>
            </a:r>
            <a:r>
              <a:rPr lang="en-US" dirty="0">
                <a:latin typeface="Arial Black" panose="020B0A04020102020204" pitchFamily="34" charset="0"/>
              </a:rPr>
              <a:t> Science and Technology University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7DBAA-12DC-42E1-F710-3D8F840437B2}"/>
              </a:ext>
            </a:extLst>
          </p:cNvPr>
          <p:cNvSpPr/>
          <p:nvPr/>
        </p:nvSpPr>
        <p:spPr>
          <a:xfrm>
            <a:off x="6508954" y="3647768"/>
            <a:ext cx="5230762" cy="27038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dirty="0">
              <a:latin typeface="Arial Black" panose="020B0A04020102020204" pitchFamily="34" charset="0"/>
            </a:endParaRPr>
          </a:p>
          <a:p>
            <a:r>
              <a:rPr lang="en-GB" dirty="0">
                <a:latin typeface="Arial Black" panose="020B0A04020102020204" pitchFamily="34" charset="0"/>
              </a:rPr>
              <a:t>Submitted To:</a:t>
            </a:r>
          </a:p>
          <a:p>
            <a:r>
              <a:rPr lang="en-GB" dirty="0">
                <a:latin typeface="Arial Black" panose="020B0A04020102020204" pitchFamily="34" charset="0"/>
              </a:rPr>
              <a:t>Dr. Nazrul Islam</a:t>
            </a:r>
          </a:p>
          <a:p>
            <a:r>
              <a:rPr lang="en-GB" dirty="0">
                <a:latin typeface="Arial Black" panose="020B0A04020102020204" pitchFamily="34" charset="0"/>
              </a:rPr>
              <a:t>Associate Professor,</a:t>
            </a:r>
          </a:p>
          <a:p>
            <a:r>
              <a:rPr lang="en-GB" dirty="0">
                <a:latin typeface="Arial Black" panose="020B0A04020102020204" pitchFamily="34" charset="0"/>
              </a:rPr>
              <a:t>Department of </a:t>
            </a:r>
            <a:r>
              <a:rPr lang="en-US" dirty="0">
                <a:latin typeface="Arial Black" panose="020B0A04020102020204" pitchFamily="34" charset="0"/>
              </a:rPr>
              <a:t>Information and Communication Technology,</a:t>
            </a:r>
          </a:p>
          <a:p>
            <a:r>
              <a:rPr lang="en-US" dirty="0">
                <a:latin typeface="Arial Black" panose="020B0A04020102020204" pitchFamily="34" charset="0"/>
              </a:rPr>
              <a:t>Mawlana </a:t>
            </a:r>
            <a:r>
              <a:rPr lang="en-US" dirty="0" err="1">
                <a:latin typeface="Arial Black" panose="020B0A04020102020204" pitchFamily="34" charset="0"/>
              </a:rPr>
              <a:t>Bhashani</a:t>
            </a:r>
            <a:r>
              <a:rPr lang="en-US" dirty="0">
                <a:latin typeface="Arial Black" panose="020B0A04020102020204" pitchFamily="34" charset="0"/>
              </a:rPr>
              <a:t> Science and Technology University</a:t>
            </a:r>
          </a:p>
          <a:p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49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273CE0-2C96-8C46-2FC0-2B22392DD146}"/>
              </a:ext>
            </a:extLst>
          </p:cNvPr>
          <p:cNvSpPr txBox="1"/>
          <p:nvPr/>
        </p:nvSpPr>
        <p:spPr>
          <a:xfrm>
            <a:off x="1288026" y="11918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What is Internet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C5D34-2D0C-1793-D707-20964BBA710B}"/>
              </a:ext>
            </a:extLst>
          </p:cNvPr>
          <p:cNvSpPr txBox="1"/>
          <p:nvPr/>
        </p:nvSpPr>
        <p:spPr>
          <a:xfrm>
            <a:off x="973393" y="2064774"/>
            <a:ext cx="70398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014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Condensed" panose="020B0502040204020203" pitchFamily="34" charset="0"/>
              </a:rPr>
              <a:t>The Internet is a global network of interconnected computers that communicate with each other. </a:t>
            </a:r>
          </a:p>
          <a:p>
            <a:pPr marL="112014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Condensed" panose="020B0502040204020203" pitchFamily="34" charset="0"/>
              </a:rPr>
              <a:t>It has revolutionized communication, information access, and everyday life.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6222CD-1827-D23F-3D44-BC69D687D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362" y="2789496"/>
            <a:ext cx="2844439" cy="1964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3AFE0C-41F6-EBDD-8670-FD96E620B5A5}"/>
              </a:ext>
            </a:extLst>
          </p:cNvPr>
          <p:cNvSpPr txBox="1"/>
          <p:nvPr/>
        </p:nvSpPr>
        <p:spPr>
          <a:xfrm>
            <a:off x="8646361" y="4822643"/>
            <a:ext cx="2844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Source:</a:t>
            </a:r>
            <a:r>
              <a:rPr lang="en-US" dirty="0" err="1">
                <a:hlinkClick r:id="rId3"/>
              </a:rPr>
              <a:t>https</a:t>
            </a:r>
            <a:r>
              <a:rPr lang="en-US" dirty="0">
                <a:hlinkClick r:id="rId3"/>
              </a:rPr>
              <a:t>://img.freepik.com/premium-photo/5g-communication-technology-wireless-internet-network-global-business_31965-14383.jpg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75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7ABD1-B80B-F8FE-8558-6AB02FF98CB6}"/>
              </a:ext>
            </a:extLst>
          </p:cNvPr>
          <p:cNvSpPr txBox="1"/>
          <p:nvPr/>
        </p:nvSpPr>
        <p:spPr>
          <a:xfrm>
            <a:off x="496530" y="1484671"/>
            <a:ext cx="8082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>
                <a:latin typeface="Arial Black" panose="020B0A04020102020204" pitchFamily="34" charset="0"/>
              </a:rPr>
              <a:t>The Genesis – ARPANET Origin: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B7C69-F2FE-0DB7-C914-68333EE182A5}"/>
              </a:ext>
            </a:extLst>
          </p:cNvPr>
          <p:cNvSpPr txBox="1"/>
          <p:nvPr/>
        </p:nvSpPr>
        <p:spPr>
          <a:xfrm>
            <a:off x="496530" y="2685000"/>
            <a:ext cx="689241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SemiCondensed" panose="020B0502040204020203" pitchFamily="34" charset="0"/>
              </a:rPr>
              <a:t>Origin: The precursor to the Internet.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SemiCondensed" panose="020B0502040204020203" pitchFamily="34" charset="0"/>
              </a:rPr>
              <a:t> Developed by the </a:t>
            </a:r>
            <a:r>
              <a:rPr lang="en-US" sz="2800" b="1" dirty="0">
                <a:latin typeface="Bahnschrift SemiCondensed" panose="020B0502040204020203" pitchFamily="34" charset="0"/>
              </a:rPr>
              <a:t>Advanced Research Projects Agency</a:t>
            </a:r>
            <a:r>
              <a:rPr lang="en-US" sz="2800" dirty="0">
                <a:latin typeface="Bahnschrift SemiCondensed" panose="020B0502040204020203" pitchFamily="34" charset="0"/>
              </a:rPr>
              <a:t> (ARPA).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SemiCondensed" panose="020B0502040204020203" pitchFamily="34" charset="0"/>
              </a:rPr>
              <a:t>Timeline: Late 1960s.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SemiCondensed" panose="020B0502040204020203" pitchFamily="34" charset="0"/>
              </a:rPr>
              <a:t>Purpose: Research and military communication.</a:t>
            </a:r>
          </a:p>
          <a:p>
            <a:endParaRPr lang="en-US" dirty="0"/>
          </a:p>
        </p:txBody>
      </p:sp>
      <p:pic>
        <p:nvPicPr>
          <p:cNvPr id="6" name="Picture 5" descr="undefined">
            <a:extLst>
              <a:ext uri="{FF2B5EF4-FFF2-40B4-BE49-F238E27FC236}">
                <a16:creationId xmlns:a16="http://schemas.microsoft.com/office/drawing/2014/main" id="{F6D451D0-DDBE-4B7A-6BFB-3B38449B3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426" y="2511007"/>
            <a:ext cx="5324468" cy="3149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14A2A-8B13-5F96-63F3-454BDCB3A9AB}"/>
              </a:ext>
            </a:extLst>
          </p:cNvPr>
          <p:cNvSpPr txBox="1"/>
          <p:nvPr/>
        </p:nvSpPr>
        <p:spPr>
          <a:xfrm>
            <a:off x="6774426" y="5661001"/>
            <a:ext cx="4660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Source:https</a:t>
            </a:r>
            <a:r>
              <a:rPr lang="en-US" dirty="0">
                <a:solidFill>
                  <a:srgbClr val="002060"/>
                </a:solidFill>
              </a:rPr>
              <a:t>://upload.wikimedia.org/</a:t>
            </a:r>
            <a:r>
              <a:rPr lang="en-US" dirty="0" err="1">
                <a:solidFill>
                  <a:srgbClr val="002060"/>
                </a:solidFill>
              </a:rPr>
              <a:t>wikipedia</a:t>
            </a:r>
            <a:r>
              <a:rPr lang="en-US" dirty="0">
                <a:solidFill>
                  <a:srgbClr val="002060"/>
                </a:solidFill>
              </a:rPr>
              <a:t>/commons/9/94/MILNET-US-Geographical-1989.jpg</a:t>
            </a:r>
          </a:p>
        </p:txBody>
      </p:sp>
    </p:spTree>
    <p:extLst>
      <p:ext uri="{BB962C8B-B14F-4D97-AF65-F5344CB8AC3E}">
        <p14:creationId xmlns:p14="http://schemas.microsoft.com/office/powerpoint/2010/main" val="26035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283A5-1D61-E086-62E1-2BA9CFD6E1F0}"/>
              </a:ext>
            </a:extLst>
          </p:cNvPr>
          <p:cNvSpPr txBox="1"/>
          <p:nvPr/>
        </p:nvSpPr>
        <p:spPr>
          <a:xfrm>
            <a:off x="727587" y="1435510"/>
            <a:ext cx="929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Foundational Technologies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A7A08-6AEC-5997-36C7-66CEB8569927}"/>
              </a:ext>
            </a:extLst>
          </p:cNvPr>
          <p:cNvSpPr txBox="1"/>
          <p:nvPr/>
        </p:nvSpPr>
        <p:spPr>
          <a:xfrm>
            <a:off x="884903" y="2330245"/>
            <a:ext cx="69120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Packet Switching: </a:t>
            </a:r>
          </a:p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Data is divided into small packets. </a:t>
            </a:r>
          </a:p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These packets travel independently and are reassembled at the destination.</a:t>
            </a:r>
          </a:p>
          <a:p>
            <a:pPr marL="445770" indent="-342900">
              <a:buFont typeface="Wingdings" panose="05000000000000000000" pitchFamily="2" charset="2"/>
              <a:buChar char="Ø"/>
            </a:pPr>
            <a:endParaRPr lang="en-US" sz="2400" dirty="0">
              <a:latin typeface="Bahnschrift SemiCondensed" panose="020B0502040204020203" pitchFamily="34" charset="0"/>
            </a:endParaRPr>
          </a:p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 </a:t>
            </a:r>
            <a:r>
              <a:rPr lang="en-US" sz="2400" b="1" dirty="0">
                <a:latin typeface="Bahnschrift SemiCondensed" panose="020B0502040204020203" pitchFamily="34" charset="0"/>
              </a:rPr>
              <a:t>TCP/IP Protocol: </a:t>
            </a:r>
          </a:p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Developed by </a:t>
            </a:r>
            <a:r>
              <a:rPr lang="en-US" sz="2400" b="1" dirty="0">
                <a:latin typeface="Bahnschrift SemiCondensed" panose="020B0502040204020203" pitchFamily="34" charset="0"/>
              </a:rPr>
              <a:t>Vint Cerf </a:t>
            </a:r>
            <a:r>
              <a:rPr lang="en-US" sz="2400" dirty="0">
                <a:latin typeface="Bahnschrift SemiCondensed" panose="020B0502040204020203" pitchFamily="34" charset="0"/>
              </a:rPr>
              <a:t>and </a:t>
            </a:r>
            <a:r>
              <a:rPr lang="en-US" sz="2400" b="1" dirty="0">
                <a:latin typeface="Bahnschrift SemiCondensed" panose="020B0502040204020203" pitchFamily="34" charset="0"/>
              </a:rPr>
              <a:t>Bob Kahn </a:t>
            </a:r>
            <a:r>
              <a:rPr lang="en-US" sz="2400" dirty="0">
                <a:latin typeface="Bahnschrift SemiCondensed" panose="020B0502040204020203" pitchFamily="34" charset="0"/>
              </a:rPr>
              <a:t>in the 1970s.</a:t>
            </a:r>
          </a:p>
          <a:p>
            <a:pPr marL="44577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SemiCondensed" panose="020B0502040204020203" pitchFamily="34" charset="0"/>
              </a:rPr>
              <a:t> It stands for Transmission Control Protocol/Internet Protocol and is the standard for communication</a:t>
            </a:r>
            <a:r>
              <a:rPr lang="en-US" sz="2400" dirty="0">
                <a:latin typeface="Arial Rounded MT Bold" panose="020F07040305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E6218-FDF6-CE46-D333-C2CEF5F2D2A7}"/>
              </a:ext>
            </a:extLst>
          </p:cNvPr>
          <p:cNvSpPr txBox="1"/>
          <p:nvPr/>
        </p:nvSpPr>
        <p:spPr>
          <a:xfrm>
            <a:off x="2440694" y="1174061"/>
            <a:ext cx="716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latin typeface="Arial Black" panose="020B0A04020102020204" pitchFamily="34" charset="0"/>
              </a:rPr>
              <a:t>Early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E8096-FDB6-8761-BA45-DDD89C285E3E}"/>
              </a:ext>
            </a:extLst>
          </p:cNvPr>
          <p:cNvSpPr txBox="1"/>
          <p:nvPr/>
        </p:nvSpPr>
        <p:spPr>
          <a:xfrm>
            <a:off x="609600" y="2490159"/>
            <a:ext cx="2989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AC35D-6C81-06DD-0157-E19787CD5A1C}"/>
              </a:ext>
            </a:extLst>
          </p:cNvPr>
          <p:cNvSpPr/>
          <p:nvPr/>
        </p:nvSpPr>
        <p:spPr>
          <a:xfrm>
            <a:off x="1843384" y="2139811"/>
            <a:ext cx="3510444" cy="25108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Arial Black" panose="020B0A04020102020204" pitchFamily="34" charset="0"/>
              </a:rPr>
              <a:t>    Electronic Mail</a:t>
            </a:r>
          </a:p>
          <a:p>
            <a:r>
              <a:rPr lang="en-US" dirty="0">
                <a:latin typeface="Bahnschrift Condensed" panose="020B0502040204020203" pitchFamily="34" charset="0"/>
              </a:rPr>
              <a:t>Created by Ray Tomlinson in 1971, introducing the "@" symbol to separate user and host.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Bahnschrift Condensed" panose="020B0502040204020203" pitchFamily="34" charset="0"/>
            </a:endParaRPr>
          </a:p>
        </p:txBody>
      </p:sp>
      <p:pic>
        <p:nvPicPr>
          <p:cNvPr id="18" name="Picture 17" descr="Email logo png Images - Free Download ...">
            <a:extLst>
              <a:ext uri="{FF2B5EF4-FFF2-40B4-BE49-F238E27FC236}">
                <a16:creationId xmlns:a16="http://schemas.microsoft.com/office/drawing/2014/main" id="{778237D2-1173-901C-3A3D-217389674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690" y="2264017"/>
            <a:ext cx="648929" cy="45228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D2036F0-38E9-A744-0381-1E51D0208439}"/>
              </a:ext>
            </a:extLst>
          </p:cNvPr>
          <p:cNvSpPr/>
          <p:nvPr/>
        </p:nvSpPr>
        <p:spPr>
          <a:xfrm>
            <a:off x="6370320" y="2139811"/>
            <a:ext cx="3238089" cy="25108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           </a:t>
            </a:r>
            <a:r>
              <a:rPr lang="en-US" sz="2000" b="1" dirty="0">
                <a:latin typeface="Arial Black" panose="020B0A04020102020204" pitchFamily="34" charset="0"/>
              </a:rPr>
              <a:t>File Transfer</a:t>
            </a:r>
          </a:p>
          <a:p>
            <a:r>
              <a:rPr lang="en-US" dirty="0">
                <a:latin typeface="Bahnschrift Condensed" panose="020B0502040204020203" pitchFamily="34" charset="0"/>
              </a:rPr>
              <a:t>Allowed users to transfer files and access remote computers directly from their terminal.</a:t>
            </a:r>
          </a:p>
        </p:txBody>
      </p:sp>
      <p:pic>
        <p:nvPicPr>
          <p:cNvPr id="20" name="Picture 19" descr="File transfer - Free business and ...">
            <a:extLst>
              <a:ext uri="{FF2B5EF4-FFF2-40B4-BE49-F238E27FC236}">
                <a16:creationId xmlns:a16="http://schemas.microsoft.com/office/drawing/2014/main" id="{3C6EC1B1-5E19-DFD3-4958-580948C1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47" y="2318731"/>
            <a:ext cx="776749" cy="5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3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61CBA-ED23-6E35-CFF8-82AEED8C10CC}"/>
              </a:ext>
            </a:extLst>
          </p:cNvPr>
          <p:cNvSpPr txBox="1"/>
          <p:nvPr/>
        </p:nvSpPr>
        <p:spPr>
          <a:xfrm>
            <a:off x="1789471" y="1170039"/>
            <a:ext cx="7521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The Dawn of the World Wide Web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12A59-A1ED-ADF7-B4AB-006278D464FA}"/>
              </a:ext>
            </a:extLst>
          </p:cNvPr>
          <p:cNvSpPr txBox="1"/>
          <p:nvPr/>
        </p:nvSpPr>
        <p:spPr>
          <a:xfrm>
            <a:off x="1966452" y="2812026"/>
            <a:ext cx="68825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Invented by </a:t>
            </a:r>
            <a:r>
              <a:rPr lang="en-US" sz="2800" b="1" dirty="0">
                <a:latin typeface="Bahnschrift Condensed" panose="020B0502040204020203" pitchFamily="34" charset="0"/>
              </a:rPr>
              <a:t>Tim Berners-Lee </a:t>
            </a:r>
            <a:r>
              <a:rPr lang="en-US" sz="2800" dirty="0">
                <a:latin typeface="Bahnschrift Condensed" panose="020B0502040204020203" pitchFamily="34" charset="0"/>
              </a:rPr>
              <a:t>at CERN in 1989.</a:t>
            </a:r>
          </a:p>
          <a:p>
            <a:pPr marL="731520" indent="-457200">
              <a:buFont typeface="Wingdings" panose="05000000000000000000" pitchFamily="2" charset="2"/>
              <a:buChar char="Ø"/>
            </a:pPr>
            <a:endParaRPr lang="en-US" sz="2800" dirty="0">
              <a:latin typeface="Bahnschrift Condensed" panose="020B0502040204020203" pitchFamily="34" charset="0"/>
            </a:endParaRPr>
          </a:p>
          <a:p>
            <a:pPr marL="7315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Key Innovations: </a:t>
            </a:r>
          </a:p>
          <a:p>
            <a:pPr marL="73152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Bahnschrift Condensed" panose="020B0502040204020203" pitchFamily="34" charset="0"/>
              </a:rPr>
              <a:t>HTML </a:t>
            </a:r>
            <a:r>
              <a:rPr lang="en-US" sz="2800" dirty="0">
                <a:latin typeface="Bahnschrift Condensed" panose="020B0502040204020203" pitchFamily="34" charset="0"/>
              </a:rPr>
              <a:t>– Structure of web pages</a:t>
            </a:r>
          </a:p>
          <a:p>
            <a:pPr marL="73152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Bahnschrift Condensed" panose="020B0502040204020203" pitchFamily="34" charset="0"/>
              </a:rPr>
              <a:t>HTTP</a:t>
            </a:r>
            <a:r>
              <a:rPr lang="en-US" sz="2800" dirty="0">
                <a:latin typeface="Bahnschrift Condensed" panose="020B0502040204020203" pitchFamily="34" charset="0"/>
              </a:rPr>
              <a:t> – Transfer protocol</a:t>
            </a:r>
          </a:p>
          <a:p>
            <a:pPr marL="73152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Bahnschrift Condensed" panose="020B0502040204020203" pitchFamily="34" charset="0"/>
              </a:rPr>
              <a:t>URL </a:t>
            </a:r>
            <a:r>
              <a:rPr lang="en-US" sz="2800" dirty="0">
                <a:latin typeface="Bahnschrift Condensed" panose="020B0502040204020203" pitchFamily="34" charset="0"/>
              </a:rPr>
              <a:t>– Web addresses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68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8103E-8A82-5C60-AD69-3C8B2C40C8EF}"/>
              </a:ext>
            </a:extLst>
          </p:cNvPr>
          <p:cNvSpPr txBox="1"/>
          <p:nvPr/>
        </p:nvSpPr>
        <p:spPr>
          <a:xfrm>
            <a:off x="1170039" y="1278194"/>
            <a:ext cx="7934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Browsers – Opening the Web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62146-C370-E907-85B9-50DCD01AA5A7}"/>
              </a:ext>
            </a:extLst>
          </p:cNvPr>
          <p:cNvSpPr txBox="1"/>
          <p:nvPr/>
        </p:nvSpPr>
        <p:spPr>
          <a:xfrm>
            <a:off x="1170039" y="2025446"/>
            <a:ext cx="77478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77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</a:rPr>
              <a:t>Browsers are software used to access and view web pages.</a:t>
            </a:r>
          </a:p>
          <a:p>
            <a:pPr marL="44577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</a:rPr>
              <a:t>Early browsers included: Mosaic, Netscape Navigator, and Internet Explorer. </a:t>
            </a:r>
          </a:p>
          <a:p>
            <a:pPr marL="44577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</a:rPr>
              <a:t>They made the web accessible to the general public.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8434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84435-9CB7-570B-06BC-26718290B360}"/>
              </a:ext>
            </a:extLst>
          </p:cNvPr>
          <p:cNvSpPr txBox="1"/>
          <p:nvPr/>
        </p:nvSpPr>
        <p:spPr>
          <a:xfrm>
            <a:off x="751840" y="904240"/>
            <a:ext cx="7802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Expansion and Commercialization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5CBFF-03C0-8E97-8F99-2087C9EE3EE1}"/>
              </a:ext>
            </a:extLst>
          </p:cNvPr>
          <p:cNvSpPr txBox="1"/>
          <p:nvPr/>
        </p:nvSpPr>
        <p:spPr>
          <a:xfrm>
            <a:off x="751840" y="2233970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Bahnschrift Condensed" panose="020B0502040204020203" pitchFamily="34" charset="0"/>
              </a:rPr>
              <a:t>NSFNET</a:t>
            </a:r>
            <a:r>
              <a:rPr lang="en-US" sz="2800" dirty="0">
                <a:latin typeface="Bahnschrift Condensed" panose="020B0502040204020203" pitchFamily="34" charset="0"/>
              </a:rPr>
              <a:t> helped expand Internet access beyond research institutions.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endParaRPr lang="en-US" sz="2800" dirty="0">
              <a:latin typeface="Bahnschrift Condensed" panose="020B0502040204020203" pitchFamily="34" charset="0"/>
            </a:endParaRP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In the mid-1990s, privatization allowed commercial </a:t>
            </a:r>
            <a:r>
              <a:rPr lang="en-US" sz="2800" b="1" dirty="0">
                <a:latin typeface="Bahnschrift Condensed" panose="020B0502040204020203" pitchFamily="34" charset="0"/>
              </a:rPr>
              <a:t>ISPs</a:t>
            </a:r>
            <a:r>
              <a:rPr lang="en-US" sz="2800" dirty="0">
                <a:latin typeface="Bahnschrift Condensed" panose="020B0502040204020203" pitchFamily="34" charset="0"/>
              </a:rPr>
              <a:t> to provide access.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The late 1990s saw the dot-com boom, followed by a market correction</a:t>
            </a:r>
          </a:p>
        </p:txBody>
      </p:sp>
      <p:pic>
        <p:nvPicPr>
          <p:cNvPr id="10" name="Picture 9" descr="The Internet: evolution and growth statistics | Stackscale">
            <a:extLst>
              <a:ext uri="{FF2B5EF4-FFF2-40B4-BE49-F238E27FC236}">
                <a16:creationId xmlns:a16="http://schemas.microsoft.com/office/drawing/2014/main" id="{5F7AD68A-FF6D-A243-A692-64A37DCA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802" y="2306321"/>
            <a:ext cx="5374198" cy="25296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C86C85-4FA6-6F31-457F-5A432E9F52C7}"/>
              </a:ext>
            </a:extLst>
          </p:cNvPr>
          <p:cNvSpPr txBox="1"/>
          <p:nvPr/>
        </p:nvSpPr>
        <p:spPr>
          <a:xfrm>
            <a:off x="6939280" y="4880848"/>
            <a:ext cx="4908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Source: https://www.stackscale.com/wp-content/uploads/2023/05/Million-Internet-users-1995-2022-Stackscale.jpg</a:t>
            </a:r>
          </a:p>
        </p:txBody>
      </p:sp>
    </p:spTree>
    <p:extLst>
      <p:ext uri="{BB962C8B-B14F-4D97-AF65-F5344CB8AC3E}">
        <p14:creationId xmlns:p14="http://schemas.microsoft.com/office/powerpoint/2010/main" val="880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111E7-CF92-8F0E-6E2B-72D3BDAFEBB0}"/>
              </a:ext>
            </a:extLst>
          </p:cNvPr>
          <p:cNvSpPr txBox="1"/>
          <p:nvPr/>
        </p:nvSpPr>
        <p:spPr>
          <a:xfrm>
            <a:off x="960120" y="1336119"/>
            <a:ext cx="770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The Modern Internet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E59C8-E17F-493A-D9C4-27A20B5B2713}"/>
              </a:ext>
            </a:extLst>
          </p:cNvPr>
          <p:cNvSpPr txBox="1"/>
          <p:nvPr/>
        </p:nvSpPr>
        <p:spPr>
          <a:xfrm>
            <a:off x="960120" y="2170959"/>
            <a:ext cx="6858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 Condensed" panose="020B0502040204020203" pitchFamily="34" charset="0"/>
              </a:rPr>
              <a:t>Today, the Internet is accessible everywhere through mobile devices and broadband.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 Condensed" panose="020B0502040204020203" pitchFamily="34" charset="0"/>
              </a:rPr>
              <a:t> Key developments include: Social Media, Cloud Computing, and the Internet of Things (</a:t>
            </a:r>
            <a:r>
              <a:rPr lang="en-US" sz="3200" b="1" dirty="0">
                <a:latin typeface="Bahnschrift Condensed" panose="020B0502040204020203" pitchFamily="34" charset="0"/>
              </a:rPr>
              <a:t>IoT</a:t>
            </a:r>
            <a:r>
              <a:rPr lang="en-US" sz="3200" dirty="0">
                <a:latin typeface="Bahnschrift Condensed" panose="020B0502040204020203" pitchFamily="34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7F159F-FF0B-9E5B-5C0B-83FF9DF1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284" y="2259449"/>
            <a:ext cx="3939881" cy="2225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7CA785-FFAD-20AA-38BF-3D6B51F02407}"/>
              </a:ext>
            </a:extLst>
          </p:cNvPr>
          <p:cNvSpPr txBox="1"/>
          <p:nvPr/>
        </p:nvSpPr>
        <p:spPr>
          <a:xfrm>
            <a:off x="8157284" y="4484682"/>
            <a:ext cx="354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Source:https</a:t>
            </a:r>
            <a:r>
              <a:rPr lang="en-US" dirty="0">
                <a:solidFill>
                  <a:srgbClr val="002060"/>
                </a:solidFill>
              </a:rPr>
              <a:t>://www.newyorkecommerceforum.com/oawiwart/2018/06/The-role-of-the-internet-in-the-modern-era.png</a:t>
            </a:r>
          </a:p>
        </p:txBody>
      </p:sp>
    </p:spTree>
    <p:extLst>
      <p:ext uri="{BB962C8B-B14F-4D97-AF65-F5344CB8AC3E}">
        <p14:creationId xmlns:p14="http://schemas.microsoft.com/office/powerpoint/2010/main" val="250098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1605E4-DDCF-4BFB-A79E-799AB9C18F07}"/>
              </a:ext>
            </a:extLst>
          </p:cNvPr>
          <p:cNvSpPr txBox="1"/>
          <p:nvPr/>
        </p:nvSpPr>
        <p:spPr>
          <a:xfrm>
            <a:off x="1087120" y="14684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Future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F63EE-2B03-A18C-F1DA-2A6F945FE496}"/>
              </a:ext>
            </a:extLst>
          </p:cNvPr>
          <p:cNvSpPr txBox="1"/>
          <p:nvPr/>
        </p:nvSpPr>
        <p:spPr>
          <a:xfrm>
            <a:off x="1087120" y="2219415"/>
            <a:ext cx="67564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Bahnschrift Condensed" panose="020B0502040204020203" pitchFamily="34" charset="0"/>
              </a:rPr>
              <a:t>Artificial Intelligence </a:t>
            </a:r>
            <a:r>
              <a:rPr lang="en-US" sz="2800" dirty="0">
                <a:latin typeface="Bahnschrift Condensed" panose="020B0502040204020203" pitchFamily="34" charset="0"/>
              </a:rPr>
              <a:t>(AI) will enhance services like search and recommendations.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5G will provide </a:t>
            </a:r>
            <a:r>
              <a:rPr lang="en-US" sz="2800" b="1" dirty="0">
                <a:latin typeface="Bahnschrift Condensed" panose="020B0502040204020203" pitchFamily="34" charset="0"/>
              </a:rPr>
              <a:t>faster connectivity. </a:t>
            </a:r>
          </a:p>
          <a:p>
            <a:pPr marL="61722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ahnschrift Condensed" panose="020B0502040204020203" pitchFamily="34" charset="0"/>
              </a:rPr>
              <a:t>IoT and </a:t>
            </a:r>
            <a:r>
              <a:rPr lang="en-US" sz="2800" b="1" dirty="0">
                <a:latin typeface="Bahnschrift Condensed" panose="020B0502040204020203" pitchFamily="34" charset="0"/>
              </a:rPr>
              <a:t>virtual worlds </a:t>
            </a:r>
            <a:r>
              <a:rPr lang="en-US" sz="2800" dirty="0">
                <a:latin typeface="Bahnschrift Condensed" panose="020B0502040204020203" pitchFamily="34" charset="0"/>
              </a:rPr>
              <a:t>(Metaverse) will continue to grow.</a:t>
            </a:r>
          </a:p>
          <a:p>
            <a:endParaRPr lang="en-US" dirty="0"/>
          </a:p>
        </p:txBody>
      </p:sp>
      <p:pic>
        <p:nvPicPr>
          <p:cNvPr id="6" name="Picture 5" descr="Global business network connection around digital globe ...">
            <a:extLst>
              <a:ext uri="{FF2B5EF4-FFF2-40B4-BE49-F238E27FC236}">
                <a16:creationId xmlns:a16="http://schemas.microsoft.com/office/drawing/2014/main" id="{A6022DAE-3DD8-0FFC-FC8F-CB40A1BB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251" y="2085278"/>
            <a:ext cx="2851356" cy="2746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F5E626-1073-23CC-1054-F18BAB8E7B62}"/>
              </a:ext>
            </a:extLst>
          </p:cNvPr>
          <p:cNvSpPr txBox="1"/>
          <p:nvPr/>
        </p:nvSpPr>
        <p:spPr>
          <a:xfrm>
            <a:off x="8249920" y="4931688"/>
            <a:ext cx="3982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Source:https</a:t>
            </a:r>
            <a:r>
              <a:rPr lang="en-US" dirty="0">
                <a:solidFill>
                  <a:srgbClr val="002060"/>
                </a:solidFill>
              </a:rPr>
              <a:t>://www.freepik.com/premium-ai-image/global-business-network-connection-around-digital-globe-internet-things-iot-concept-internat_321024421.htm</a:t>
            </a:r>
          </a:p>
        </p:txBody>
      </p:sp>
    </p:spTree>
    <p:extLst>
      <p:ext uri="{BB962C8B-B14F-4D97-AF65-F5344CB8AC3E}">
        <p14:creationId xmlns:p14="http://schemas.microsoft.com/office/powerpoint/2010/main" val="19752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08F28-AFD9-41B9-D14C-37A128DDAF48}"/>
              </a:ext>
            </a:extLst>
          </p:cNvPr>
          <p:cNvSpPr txBox="1"/>
          <p:nvPr/>
        </p:nvSpPr>
        <p:spPr>
          <a:xfrm>
            <a:off x="1798320" y="1381760"/>
            <a:ext cx="675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rial Black" panose="020B0A04020102020204" pitchFamily="34" charset="0"/>
              </a:rPr>
              <a:t>Conclusion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8E7F8-86CC-9FB5-3CFA-A3B599576531}"/>
              </a:ext>
            </a:extLst>
          </p:cNvPr>
          <p:cNvSpPr txBox="1"/>
          <p:nvPr/>
        </p:nvSpPr>
        <p:spPr>
          <a:xfrm>
            <a:off x="2011680" y="2305090"/>
            <a:ext cx="72745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 Condensed" panose="020B0502040204020203" pitchFamily="34" charset="0"/>
              </a:rPr>
              <a:t>The Internet has evolved from </a:t>
            </a:r>
            <a:r>
              <a:rPr lang="en-US" sz="3200" b="1" dirty="0">
                <a:latin typeface="Bahnschrift Condensed" panose="020B0502040204020203" pitchFamily="34" charset="0"/>
              </a:rPr>
              <a:t>ARPANET</a:t>
            </a:r>
            <a:r>
              <a:rPr lang="en-US" sz="3200" dirty="0">
                <a:latin typeface="Bahnschrift Condensed" panose="020B0502040204020203" pitchFamily="34" charset="0"/>
              </a:rPr>
              <a:t> to a powerful global system. It continues to grow and shape the future of communication and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B7E75-434C-9144-C12D-1CBB799EB2CA}"/>
              </a:ext>
            </a:extLst>
          </p:cNvPr>
          <p:cNvSpPr txBox="1"/>
          <p:nvPr/>
        </p:nvSpPr>
        <p:spPr>
          <a:xfrm>
            <a:off x="2499360" y="2379226"/>
            <a:ext cx="904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2060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599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520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Algerian</vt:lpstr>
      <vt:lpstr>Arial</vt:lpstr>
      <vt:lpstr>Arial Black</vt:lpstr>
      <vt:lpstr>Arial Narrow</vt:lpstr>
      <vt:lpstr>Arial Rounded MT Bold</vt:lpstr>
      <vt:lpstr>Bahnschrift Condensed</vt:lpstr>
      <vt:lpstr>Bahnschrift SemiCondensed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Haseba</dc:creator>
  <cp:lastModifiedBy>Haseba</cp:lastModifiedBy>
  <cp:revision>7</cp:revision>
  <dcterms:created xsi:type="dcterms:W3CDTF">2026-05-06T06:31:52Z</dcterms:created>
  <dcterms:modified xsi:type="dcterms:W3CDTF">2026-05-07T17:59:06Z</dcterms:modified>
</cp:coreProperties>
</file>